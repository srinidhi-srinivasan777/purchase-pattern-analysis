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2872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4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8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08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2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828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4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17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2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38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06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798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0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587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929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13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020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5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128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PURCHASE PATTERN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A MARKET PURCHASE ANALYSIS DONE BY APRIORI ALGORITHM USING ORANGE.</a:t>
            </a:r>
          </a:p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PROJECT ID: CLACL-005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TEAM </a:t>
            </a:r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ID:PTID-CDA-SEP-26-11164</a:t>
            </a:r>
          </a:p>
          <a:p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77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49051"/>
            <a:ext cx="10597124" cy="4703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150000"/>
              </a:lnSpc>
              <a:buNone/>
              <a:tabLst/>
            </a:pPr>
            <a:r>
              <a:rPr lang="en-US" altLang="en-US" dirty="0"/>
              <a:t>Challenge: </a:t>
            </a:r>
            <a:endParaRPr lang="en-US" altLang="en-US" dirty="0" smtClean="0"/>
          </a:p>
          <a:p>
            <a:pPr marR="0" lvl="0" fontAlgn="base">
              <a:lnSpc>
                <a:spcPct val="150000"/>
              </a:lnSpc>
              <a:tabLst/>
            </a:pPr>
            <a:r>
              <a:rPr lang="en-US" altLang="en-US" dirty="0" smtClean="0"/>
              <a:t>Leverage </a:t>
            </a:r>
            <a:r>
              <a:rPr lang="en-US" altLang="en-US" dirty="0"/>
              <a:t>Market Basket Analysis (MBA) on retail transaction data to uncover product relationships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 marL="0" marR="0" lvl="0" indent="0" fontAlgn="base">
              <a:lnSpc>
                <a:spcPct val="150000"/>
              </a:lnSpc>
              <a:buNone/>
              <a:tabLst/>
            </a:pPr>
            <a:r>
              <a:rPr lang="en-US" altLang="en-US" dirty="0"/>
              <a:t>Objective:</a:t>
            </a:r>
          </a:p>
          <a:p>
            <a:pPr marR="0" lvl="0" fontAlgn="base">
              <a:lnSpc>
                <a:spcPct val="150000"/>
              </a:lnSpc>
              <a:tabLst/>
            </a:pPr>
            <a:r>
              <a:rPr lang="en-US" altLang="en-US" dirty="0"/>
              <a:t>Understand customer purchasing behavior</a:t>
            </a:r>
          </a:p>
          <a:p>
            <a:pPr marR="0" lvl="0" fontAlgn="base">
              <a:lnSpc>
                <a:spcPct val="150000"/>
              </a:lnSpc>
              <a:tabLst/>
            </a:pPr>
            <a:r>
              <a:rPr lang="en-US" altLang="en-US" dirty="0"/>
              <a:t>Identify frequently co-occurring products</a:t>
            </a:r>
          </a:p>
          <a:p>
            <a:pPr marR="0" lvl="0" fontAlgn="base">
              <a:lnSpc>
                <a:spcPct val="150000"/>
              </a:lnSpc>
              <a:tabLst/>
            </a:pPr>
            <a:r>
              <a:rPr lang="en-US" altLang="en-US" dirty="0"/>
              <a:t>Derive actionable recommendations to improve sales strategies and 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7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7039" y="2260398"/>
            <a:ext cx="1085585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en-US" dirty="0"/>
              <a:t>Dataset: Retail transaction records (sales invoices)</a:t>
            </a:r>
          </a:p>
          <a:p>
            <a:pPr fontAlgn="base">
              <a:lnSpc>
                <a:spcPct val="150000"/>
              </a:lnSpc>
            </a:pPr>
            <a:r>
              <a:rPr lang="en-US" altLang="en-US" dirty="0"/>
              <a:t>Key Columns: </a:t>
            </a:r>
            <a:r>
              <a:rPr lang="en-US" altLang="en-US" dirty="0" err="1"/>
              <a:t>BillNo</a:t>
            </a:r>
            <a:r>
              <a:rPr lang="en-US" altLang="en-US" dirty="0"/>
              <a:t>, </a:t>
            </a:r>
            <a:r>
              <a:rPr lang="en-US" altLang="en-US" dirty="0" err="1"/>
              <a:t>Itemname</a:t>
            </a:r>
            <a:r>
              <a:rPr lang="en-US" altLang="en-US" dirty="0"/>
              <a:t>, Quantity, </a:t>
            </a:r>
            <a:r>
              <a:rPr lang="en-US" altLang="en-US" dirty="0" err="1"/>
              <a:t>Present_Date</a:t>
            </a:r>
            <a:r>
              <a:rPr lang="en-US" altLang="en-US" dirty="0"/>
              <a:t>, Price, </a:t>
            </a:r>
            <a:r>
              <a:rPr lang="en-US" altLang="en-US" dirty="0" err="1"/>
              <a:t>CustomerID</a:t>
            </a:r>
            <a:r>
              <a:rPr lang="en-US" altLang="en-US" dirty="0"/>
              <a:t>, Country</a:t>
            </a:r>
          </a:p>
          <a:p>
            <a:pPr fontAlgn="base">
              <a:lnSpc>
                <a:spcPct val="150000"/>
              </a:lnSpc>
            </a:pPr>
            <a:r>
              <a:rPr lang="en-US" altLang="en-US" dirty="0"/>
              <a:t>Coverage:</a:t>
            </a:r>
          </a:p>
          <a:p>
            <a:pPr fontAlgn="base">
              <a:lnSpc>
                <a:spcPct val="150000"/>
              </a:lnSpc>
            </a:pPr>
            <a:r>
              <a:rPr lang="en-US" altLang="en-US" dirty="0"/>
              <a:t>Multi-country transactions (UK, France, Australia, Netherlands)</a:t>
            </a:r>
          </a:p>
          <a:p>
            <a:pPr fontAlgn="base">
              <a:lnSpc>
                <a:spcPct val="150000"/>
              </a:lnSpc>
            </a:pPr>
            <a:r>
              <a:rPr lang="en-US" altLang="en-US" dirty="0"/>
              <a:t>Mix of small retail purchases and bulk orders</a:t>
            </a:r>
          </a:p>
          <a:p>
            <a:pPr fontAlgn="base">
              <a:lnSpc>
                <a:spcPct val="150000"/>
              </a:lnSpc>
            </a:pPr>
            <a:r>
              <a:rPr lang="en-US" altLang="en-US" dirty="0"/>
              <a:t>Products: home décor, kitchenware, toys, seasonal items, gifts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4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EXPLORATORY DATA ANALYSIS</a:t>
            </a:r>
            <a:endParaRPr lang="en-I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00967" y="4531490"/>
            <a:ext cx="10214656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/>
              <a:t>Quantity: Median = 4, Max = 600 → skewed by bulk orders</a:t>
            </a:r>
          </a:p>
          <a:p>
            <a:pPr fontAlgn="base"/>
            <a:r>
              <a:rPr lang="en-US" altLang="en-US" dirty="0"/>
              <a:t>Price: Median = 2.1, Max = 165 → mostly low-value items, rare premium outliers</a:t>
            </a:r>
          </a:p>
          <a:p>
            <a:pPr fontAlgn="base"/>
            <a:r>
              <a:rPr lang="en-US" altLang="en-US" dirty="0"/>
              <a:t>Revenue: Median = 10.5, Max = 1627.2 → skewed by wholesale invoices</a:t>
            </a:r>
          </a:p>
          <a:p>
            <a:pPr fontAlgn="base"/>
            <a:r>
              <a:rPr lang="en-US" altLang="en-US" dirty="0"/>
              <a:t>Insight: Median values better represent typical sales than averages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519" y="1488250"/>
            <a:ext cx="7436232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7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SEGMENTATION: BULK VS REGULAR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2484" y="2780221"/>
            <a:ext cx="10076878" cy="2759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Identified distortion caused by bulk orders in averages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Split dataset into Bulk Segment (large wholesale purchases) and Regular Segment (small retail orders)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Built pivot tables for top 10 products in each segment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Converted pivots into matrix format for Orange analysis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Insight: Segmentation ensures clearer insights by separating wholesale vs retail behavior</a:t>
            </a:r>
          </a:p>
        </p:txBody>
      </p:sp>
    </p:spTree>
    <p:extLst>
      <p:ext uri="{BB962C8B-B14F-4D97-AF65-F5344CB8AC3E}">
        <p14:creationId xmlns:p14="http://schemas.microsoft.com/office/powerpoint/2010/main" val="271426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BULK VS REGULAR IDENTIFICATION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03312" y="5062193"/>
            <a:ext cx="8946541" cy="1186205"/>
          </a:xfrm>
        </p:spPr>
        <p:txBody>
          <a:bodyPr/>
          <a:lstStyle/>
          <a:p>
            <a:r>
              <a:rPr lang="en-US" dirty="0" smtClean="0"/>
              <a:t>THE BOX PLOT IDENTIFIES THE OUTLIERS WHICH ARE LATER IDENTIFIED AS VALID BULK ORDERS.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1780491"/>
            <a:ext cx="4185125" cy="26308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06" y="1795000"/>
            <a:ext cx="4457929" cy="261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83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OCCURRENCE ANALYSIS- REGULAR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3" y="4556047"/>
            <a:ext cx="1008630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Top items: hand warmers (Scotty Dog – 194, Union Jack – 178), candles, ornaments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Decorative items like WHITE HANGING HEART T-LIGHT HOLDER show strong recurrence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Insight: Regular buyers prefer small, affordable, repeat-purchase items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621" y="1336434"/>
            <a:ext cx="7360028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6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OCCURRENCE ANALYSIS - BULK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929" y="1577683"/>
            <a:ext cx="7074405" cy="3098011"/>
          </a:xfrm>
          <a:prstGeom prst="rect">
            <a:avLst/>
          </a:prstGeom>
        </p:spPr>
      </p:pic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381404" y="5012958"/>
            <a:ext cx="8520281" cy="127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Top items: incense (600), frames (480), night lights (432)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Decorative lighting and seasonal stock drive wholesale demand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Insight: Bulk buyers prefer high-volume decorative/utility items</a:t>
            </a:r>
          </a:p>
        </p:txBody>
      </p:sp>
    </p:spTree>
    <p:extLst>
      <p:ext uri="{BB962C8B-B14F-4D97-AF65-F5344CB8AC3E}">
        <p14:creationId xmlns:p14="http://schemas.microsoft.com/office/powerpoint/2010/main" val="340438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TREND ANALYSIS – BY HOURS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6111" y="4975741"/>
            <a:ext cx="10948831" cy="127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Bulk: Bulk orders spread across day, less time-sensitive.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Regular: Midday surge (11 AM–12 PM) with peak item counts.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US" altLang="en-US" dirty="0"/>
              <a:t>Overall Insight: Promotions should target retail midday peaks; bulk timing less critical.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540" y="1605207"/>
            <a:ext cx="4147478" cy="303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01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ANALYSIS - REGULAR</a:t>
            </a:r>
            <a:endParaRPr lang="en-IN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-32676660" y="376535"/>
            <a:ext cx="4486866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 reveals associations among small gift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hand warmers + candles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Rules highlight cross-sell opportunities for retail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912067" y="1376048"/>
            <a:ext cx="2277534" cy="4349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 err="1"/>
              <a:t>Apriori</a:t>
            </a:r>
            <a:r>
              <a:rPr lang="en-US" altLang="en-US" dirty="0"/>
              <a:t> reveals associations among small gift </a:t>
            </a:r>
            <a:r>
              <a:rPr lang="en-US" altLang="en-US" dirty="0" smtClean="0"/>
              <a:t>items.</a:t>
            </a:r>
            <a:endParaRPr lang="en-US" altLang="en-US" dirty="0"/>
          </a:p>
          <a:p>
            <a:pPr fontAlgn="base"/>
            <a:r>
              <a:rPr lang="en-US" altLang="en-US" dirty="0"/>
              <a:t>Example: hand warmers + </a:t>
            </a:r>
            <a:r>
              <a:rPr lang="en-US" altLang="en-US" dirty="0" smtClean="0"/>
              <a:t>candles.</a:t>
            </a:r>
            <a:endParaRPr lang="en-US" altLang="en-US" dirty="0"/>
          </a:p>
          <a:p>
            <a:pPr fontAlgn="base"/>
            <a:r>
              <a:rPr lang="en-US" altLang="en-US" dirty="0"/>
              <a:t>Insight: Rules highlight cross-sell opportunities for </a:t>
            </a:r>
            <a:r>
              <a:rPr lang="en-US" altLang="en-US" dirty="0" smtClean="0"/>
              <a:t>retail.</a:t>
            </a:r>
            <a:endParaRPr lang="en-US" alt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30" y="1436343"/>
            <a:ext cx="7277474" cy="42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8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ANALYSIS - BULK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415866" y="1853248"/>
            <a:ext cx="3059477" cy="373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 err="1"/>
              <a:t>Apriori</a:t>
            </a:r>
            <a:r>
              <a:rPr lang="en-US" altLang="en-US" dirty="0"/>
              <a:t> reveals strong co-occurrence among wholesale decorative items</a:t>
            </a:r>
          </a:p>
          <a:p>
            <a:pPr fontAlgn="base"/>
            <a:r>
              <a:rPr lang="en-US" altLang="en-US" dirty="0"/>
              <a:t>Example: incense + lighting bundles</a:t>
            </a:r>
          </a:p>
          <a:p>
            <a:pPr fontAlgn="base"/>
            <a:r>
              <a:rPr lang="en-US" altLang="en-US" dirty="0"/>
              <a:t>Insight: Rules highlight wholesale bundling opportunities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92" y="1578358"/>
            <a:ext cx="6674193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5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628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BULK ITEMS:</a:t>
            </a:r>
          </a:p>
          <a:p>
            <a:r>
              <a:rPr lang="en-US" dirty="0" smtClean="0"/>
              <a:t>Maintain </a:t>
            </a:r>
            <a:r>
              <a:rPr lang="en-US" dirty="0"/>
              <a:t>stock of incense, frames, </a:t>
            </a:r>
            <a:r>
              <a:rPr lang="en-US" dirty="0" smtClean="0"/>
              <a:t>lighting.</a:t>
            </a:r>
            <a:endParaRPr lang="en-US" dirty="0"/>
          </a:p>
          <a:p>
            <a:r>
              <a:rPr lang="en-US" dirty="0"/>
              <a:t>Offer wholesale discounts and </a:t>
            </a:r>
            <a:r>
              <a:rPr lang="en-US" dirty="0" smtClean="0"/>
              <a:t>bundles.</a:t>
            </a:r>
            <a:endParaRPr lang="en-US" dirty="0"/>
          </a:p>
          <a:p>
            <a:r>
              <a:rPr lang="en-US" dirty="0"/>
              <a:t>Use hubs as </a:t>
            </a:r>
            <a:r>
              <a:rPr lang="en-US" dirty="0" smtClean="0"/>
              <a:t>anchor </a:t>
            </a:r>
            <a:r>
              <a:rPr lang="en-US" dirty="0"/>
              <a:t>products for </a:t>
            </a:r>
            <a:r>
              <a:rPr lang="en-US" dirty="0" smtClean="0"/>
              <a:t>cross-selling.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REGULAR ITEMS:</a:t>
            </a:r>
          </a:p>
          <a:p>
            <a:pPr fontAlgn="base">
              <a:lnSpc>
                <a:spcPct val="110000"/>
              </a:lnSpc>
            </a:pPr>
            <a:r>
              <a:rPr lang="en-US" dirty="0"/>
              <a:t>Keep hand warmers, candles, ornaments in steady </a:t>
            </a:r>
            <a:r>
              <a:rPr lang="en-US" dirty="0" smtClean="0"/>
              <a:t>supply.</a:t>
            </a:r>
            <a:endParaRPr lang="en-US" dirty="0"/>
          </a:p>
          <a:p>
            <a:pPr fontAlgn="base">
              <a:lnSpc>
                <a:spcPct val="110000"/>
              </a:lnSpc>
            </a:pPr>
            <a:r>
              <a:rPr lang="en-US" dirty="0"/>
              <a:t>Target midday peaks with flash sales and gift </a:t>
            </a:r>
            <a:r>
              <a:rPr lang="en-US" dirty="0" smtClean="0"/>
              <a:t>packs.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1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REGULAR ITEMS OFFERS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8113" y="4919133"/>
            <a:ext cx="9183687" cy="889001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ALL OF THESE ARE OF SUPPORT OVER 50% AND CONFIDENCE OF 100%.</a:t>
            </a:r>
          </a:p>
          <a:p>
            <a:r>
              <a:rPr lang="en-US" dirty="0" smtClean="0"/>
              <a:t>THESE </a:t>
            </a:r>
            <a:r>
              <a:rPr lang="en-US" dirty="0" smtClean="0"/>
              <a:t>ITEMS CAN BE SOLD BOTH AS A COMBO OFFERES AND ALSO AS  BUNDLES TO IMPROVE THEIR SALES. </a:t>
            </a:r>
          </a:p>
          <a:p>
            <a:r>
              <a:rPr lang="en-US" dirty="0" smtClean="0"/>
              <a:t>PEOPLE MIGHT BUY WHEN IT CAN BE A “ALL-IN-ONE” BUNDLE OFFER.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96216" y="1853248"/>
            <a:ext cx="8068734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64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BULK ITEMS BUNDLES OFFERS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4829985"/>
            <a:ext cx="8946541" cy="100354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ALL OF THESE ARE OF SUPPORT OVER 50% AND CONFIDENCE OF 100</a:t>
            </a:r>
            <a:r>
              <a:rPr lang="en-US" dirty="0" smtClean="0"/>
              <a:t>%.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 smtClean="0"/>
              <a:t>ITEMS CAN BE SOLD IN BUNDLE OFFERS IN BULKS, ESPECIALLY AS A FESTIVE-THEMED OFFERS.</a:t>
            </a:r>
          </a:p>
          <a:p>
            <a:r>
              <a:rPr lang="en-US" dirty="0" smtClean="0"/>
              <a:t>BUNDLES ARE PREFFERED BY WHOLE-SAFE CONCEPT BUYERS.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0" y="1684867"/>
            <a:ext cx="8322733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12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STRATEGIC TAKEAWAYS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38312" y="2291170"/>
            <a:ext cx="7770076" cy="2144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altLang="en-US" dirty="0"/>
              <a:t>Dual inventory strategy (bulk vs retail</a:t>
            </a:r>
            <a:r>
              <a:rPr lang="en-US" altLang="en-US" dirty="0" smtClean="0"/>
              <a:t>)</a:t>
            </a:r>
            <a:endParaRPr lang="en-US" altLang="en-US" dirty="0"/>
          </a:p>
          <a:p>
            <a:pPr fontAlgn="base"/>
            <a:r>
              <a:rPr lang="en-US" altLang="en-US" dirty="0"/>
              <a:t>Time promotions around midday peaks for </a:t>
            </a:r>
            <a:r>
              <a:rPr lang="en-US" altLang="en-US" dirty="0" smtClean="0"/>
              <a:t>retail.</a:t>
            </a:r>
            <a:endParaRPr lang="en-US" altLang="en-US" dirty="0"/>
          </a:p>
          <a:p>
            <a:pPr fontAlgn="base"/>
            <a:r>
              <a:rPr lang="en-US" altLang="en-US" dirty="0"/>
              <a:t>Prioritize UK campaigns, experiment </a:t>
            </a:r>
            <a:r>
              <a:rPr lang="en-US" altLang="en-US" dirty="0" smtClean="0"/>
              <a:t>abroad.</a:t>
            </a:r>
            <a:endParaRPr lang="en-US" altLang="en-US" dirty="0"/>
          </a:p>
          <a:p>
            <a:pPr fontAlgn="base"/>
            <a:r>
              <a:rPr lang="en-US" altLang="en-US" dirty="0"/>
              <a:t>Leverage association rules for bundles and </a:t>
            </a:r>
            <a:r>
              <a:rPr lang="en-US" altLang="en-US" dirty="0" smtClean="0"/>
              <a:t>personalization.</a:t>
            </a:r>
            <a:endParaRPr lang="en-US" altLang="en-US" dirty="0"/>
          </a:p>
          <a:p>
            <a:pPr fontAlgn="base"/>
            <a:r>
              <a:rPr lang="en-US" altLang="en-US" dirty="0"/>
              <a:t>Expand strategically with seasonal </a:t>
            </a:r>
            <a:r>
              <a:rPr lang="en-US" altLang="en-US" dirty="0" smtClean="0"/>
              <a:t>promotions.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189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645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PURCHASE PATTERN ANALYSIS</vt:lpstr>
      <vt:lpstr>PROBLEM STATEMENT</vt:lpstr>
      <vt:lpstr>DATASET OVERVIEW</vt:lpstr>
      <vt:lpstr>EXPLORATORY DATA ANALYSIS</vt:lpstr>
      <vt:lpstr>DATA SEGMENTATION: BULK VS REGULAR</vt:lpstr>
      <vt:lpstr>BULK VS REGULAR IDENTIFICATION</vt:lpstr>
      <vt:lpstr>OCCURRENCE ANALYSIS- REGULAR</vt:lpstr>
      <vt:lpstr>OCCURRENCE ANALYSIS - BULK</vt:lpstr>
      <vt:lpstr>TREND ANALYSIS – BY HOURS</vt:lpstr>
      <vt:lpstr>ASSOCIATION ANALYSIS - REGULAR</vt:lpstr>
      <vt:lpstr>ASSOCIATION ANALYSIS - BULK</vt:lpstr>
      <vt:lpstr>RECOMMENDATIONS:</vt:lpstr>
      <vt:lpstr>TOP REGULAR ITEMS OFFERS</vt:lpstr>
      <vt:lpstr>TOP BULK ITEMS BUNDLES OFFERS</vt:lpstr>
      <vt:lpstr>STRATEGIC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PATTERN ANALYSIS</dc:title>
  <dc:creator>SRINIDHI SRINIVASAN</dc:creator>
  <cp:lastModifiedBy>SRINIDHI SRINIVASAN</cp:lastModifiedBy>
  <cp:revision>10</cp:revision>
  <dcterms:created xsi:type="dcterms:W3CDTF">2026-09-23T13:59:35Z</dcterms:created>
  <dcterms:modified xsi:type="dcterms:W3CDTF">2026-09-30T13:25:37Z</dcterms:modified>
</cp:coreProperties>
</file>